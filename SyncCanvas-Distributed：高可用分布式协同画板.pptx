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80" r:id="rId11"/>
    <p:sldId id="281" r:id="rId12"/>
    <p:sldId id="282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70" r:id="rId21"/>
    <p:sldId id="271" r:id="rId22"/>
    <p:sldId id="272" r:id="rId23"/>
    <p:sldId id="277" r:id="rId24"/>
    <p:sldId id="284" r:id="rId25"/>
    <p:sldId id="286" r:id="rId26"/>
    <p:sldId id="285" r:id="rId27"/>
  </p:sldIdLst>
  <p:sldSz cx="12192000" cy="6858000"/>
  <p:notesSz cx="6858000" cy="12192000"/>
  <p:embeddedFontLst>
    <p:embeddedFont>
      <p:font typeface="MiSans" pitchFamily="34" charset="-122"/>
      <p:regular r:id="rId31"/>
    </p:embeddedFont>
    <p:embeddedFont>
      <p:font typeface="MiSans" pitchFamily="34" charset="-120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  <p:embeddedFont>
      <p:font typeface="等线" panose="02010600030101010101" charset="-122"/>
      <p:regular r:id="rId37"/>
      <p:bold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8" Type="http://schemas.openxmlformats.org/officeDocument/2006/relationships/font" Target="fonts/font8.fntdata"/><Relationship Id="rId37" Type="http://schemas.openxmlformats.org/officeDocument/2006/relationships/font" Target="fonts/font7.fntdata"/><Relationship Id="rId36" Type="http://schemas.openxmlformats.org/officeDocument/2006/relationships/font" Target="fonts/font6.fntdata"/><Relationship Id="rId35" Type="http://schemas.openxmlformats.org/officeDocument/2006/relationships/font" Target="fonts/font5.fntdata"/><Relationship Id="rId34" Type="http://schemas.openxmlformats.org/officeDocument/2006/relationships/font" Target="fonts/font4.fntdata"/><Relationship Id="rId33" Type="http://schemas.openxmlformats.org/officeDocument/2006/relationships/font" Target="fonts/font3.fntdata"/><Relationship Id="rId32" Type="http://schemas.openxmlformats.org/officeDocument/2006/relationships/font" Target="fonts/font2.fntdata"/><Relationship Id="rId31" Type="http://schemas.openxmlformats.org/officeDocument/2006/relationships/font" Target="fonts/font1.fntdata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6.png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7.png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8.png"/><Relationship Id="rId14" Type="http://schemas.openxmlformats.org/officeDocument/2006/relationships/tags" Target="../tags/tag48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9.png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8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image" Target="../media/image2.png"/><Relationship Id="rId14" Type="http://schemas.openxmlformats.org/officeDocument/2006/relationships/notesSlide" Target="../notesSlides/notesSlide1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image" Target="../media/image2.png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image" Target="../media/image10.png"/><Relationship Id="rId3" Type="http://schemas.openxmlformats.org/officeDocument/2006/relationships/tags" Target="../tags/tag108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image" Target="../media/image2.png"/><Relationship Id="rId17" Type="http://schemas.openxmlformats.org/officeDocument/2006/relationships/notesSlide" Target="../notesSlides/notesSlide21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1.png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7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0-d2t65l61bb2p4onbqqog.png"/>
          <p:cNvPicPr>
            <a:picLocks noChangeAspect="1"/>
          </p:cNvPicPr>
          <p:nvPr/>
        </p:nvPicPr>
        <p:blipFill>
          <a:blip r:embed="rId3"/>
          <a:srcRect l="26" r="26"/>
          <a:stretch>
            <a:fillRect/>
          </a:stretch>
        </p:blipFill>
        <p:spPr>
          <a:xfrm>
            <a:off x="0" y="833120"/>
            <a:ext cx="12192000" cy="60445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182178" y="1849120"/>
            <a:ext cx="7827645" cy="21158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20000"/>
              </a:lnSpc>
            </a:pPr>
            <a:r>
              <a:rPr lang="en-US" sz="60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SyncCanvas-Distributed：高可用分布式协同画板</a:t>
            </a:r>
            <a:endParaRPr lang="en-US" sz="1600" dirty="0"/>
          </a:p>
        </p:txBody>
      </p:sp>
      <p:sp>
        <p:nvSpPr>
          <p:cNvPr id="6" name="Shape 1"/>
          <p:cNvSpPr/>
          <p:nvPr/>
        </p:nvSpPr>
        <p:spPr>
          <a:xfrm>
            <a:off x="11559540" y="285115"/>
            <a:ext cx="243840" cy="36195"/>
          </a:xfrm>
          <a:prstGeom prst="roundRect">
            <a:avLst>
              <a:gd name="adj" fmla="val 50000"/>
            </a:avLst>
          </a:prstGeom>
          <a:solidFill>
            <a:srgbClr val="FFFDE6"/>
          </a:solidFill>
        </p:spPr>
      </p:sp>
      <p:sp>
        <p:nvSpPr>
          <p:cNvPr id="7" name="Shape 2"/>
          <p:cNvSpPr/>
          <p:nvPr/>
        </p:nvSpPr>
        <p:spPr>
          <a:xfrm>
            <a:off x="11452860" y="404495"/>
            <a:ext cx="350520" cy="36195"/>
          </a:xfrm>
          <a:prstGeom prst="roundRect">
            <a:avLst>
              <a:gd name="adj" fmla="val 50000"/>
            </a:avLst>
          </a:prstGeom>
          <a:solidFill>
            <a:srgbClr val="FFFDE6"/>
          </a:solidFill>
        </p:spPr>
      </p:sp>
      <p:sp>
        <p:nvSpPr>
          <p:cNvPr id="8" name="Shape 3"/>
          <p:cNvSpPr/>
          <p:nvPr/>
        </p:nvSpPr>
        <p:spPr>
          <a:xfrm>
            <a:off x="11269980" y="523875"/>
            <a:ext cx="533400" cy="36195"/>
          </a:xfrm>
          <a:prstGeom prst="roundRect">
            <a:avLst>
              <a:gd name="adj" fmla="val 50000"/>
            </a:avLst>
          </a:prstGeom>
          <a:solidFill>
            <a:srgbClr val="FFFDE6"/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1-d2t65le1bb2p4onbqqpg.png"/>
          <p:cNvPicPr>
            <a:picLocks noChangeAspect="1"/>
          </p:cNvPicPr>
          <p:nvPr/>
        </p:nvPicPr>
        <p:blipFill>
          <a:blip r:embed="rId3"/>
          <a:srcRect l="5" r="5"/>
          <a:stretch>
            <a:fillRect/>
          </a:stretch>
        </p:blipFill>
        <p:spPr>
          <a:xfrm>
            <a:off x="0" y="-20320"/>
            <a:ext cx="12197080" cy="6957695"/>
          </a:xfrm>
          <a:prstGeom prst="rect">
            <a:avLst/>
          </a:prstGeom>
        </p:spPr>
      </p:pic>
      <p:sp>
        <p:nvSpPr>
          <p:cNvPr id="5" name="Shape 0"/>
          <p:cNvSpPr/>
          <p:nvPr>
            <p:custDataLst>
              <p:tags r:id="rId4"/>
            </p:custDataLst>
          </p:nvPr>
        </p:nvSpPr>
        <p:spPr>
          <a:xfrm flipH="1">
            <a:off x="6266815" y="1985010"/>
            <a:ext cx="12700" cy="575945"/>
          </a:xfrm>
          <a:prstGeom prst="line">
            <a:avLst/>
          </a:prstGeom>
          <a:noFill/>
          <a:ln w="19050">
            <a:solidFill>
              <a:srgbClr val="FFFDE6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>
            <p:custDataLst>
              <p:tags r:id="rId5"/>
            </p:custDataLst>
          </p:nvPr>
        </p:nvSpPr>
        <p:spPr>
          <a:xfrm flipH="1">
            <a:off x="6266815" y="2820670"/>
            <a:ext cx="12700" cy="575945"/>
          </a:xfrm>
          <a:prstGeom prst="line">
            <a:avLst/>
          </a:prstGeom>
          <a:noFill/>
          <a:ln w="19050">
            <a:solidFill>
              <a:srgbClr val="FFFDE6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>
            <p:custDataLst>
              <p:tags r:id="rId6"/>
            </p:custDataLst>
          </p:nvPr>
        </p:nvSpPr>
        <p:spPr>
          <a:xfrm flipH="1">
            <a:off x="6266815" y="3656330"/>
            <a:ext cx="12700" cy="575945"/>
          </a:xfrm>
          <a:prstGeom prst="line">
            <a:avLst/>
          </a:prstGeom>
          <a:noFill/>
          <a:ln w="19050">
            <a:solidFill>
              <a:srgbClr val="FFFDE6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>
            <p:custDataLst>
              <p:tags r:id="rId7"/>
            </p:custDataLst>
          </p:nvPr>
        </p:nvSpPr>
        <p:spPr>
          <a:xfrm flipH="1">
            <a:off x="6266815" y="4491990"/>
            <a:ext cx="12700" cy="575945"/>
          </a:xfrm>
          <a:prstGeom prst="line">
            <a:avLst/>
          </a:prstGeom>
          <a:noFill/>
          <a:ln w="19050">
            <a:solidFill>
              <a:srgbClr val="FFFDE6"/>
            </a:solidFill>
            <a:prstDash val="solid"/>
            <a:headEnd type="none"/>
            <a:tailEnd type="none"/>
          </a:ln>
        </p:spPr>
      </p:sp>
      <p:sp>
        <p:nvSpPr>
          <p:cNvPr id="9" name="Text 4"/>
          <p:cNvSpPr/>
          <p:nvPr/>
        </p:nvSpPr>
        <p:spPr>
          <a:xfrm>
            <a:off x="1058545" y="2432685"/>
            <a:ext cx="2799080" cy="13342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目录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54305" y="3629660"/>
            <a:ext cx="4629150" cy="689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400" dirty="0">
                <a:solidFill>
                  <a:srgbClr val="FFFFFF">
                    <a:alpha val="65000"/>
                  </a:srgb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1" name="Text 6"/>
          <p:cNvSpPr/>
          <p:nvPr>
            <p:custDataLst>
              <p:tags r:id="rId8"/>
            </p:custDataLst>
          </p:nvPr>
        </p:nvSpPr>
        <p:spPr>
          <a:xfrm>
            <a:off x="5268595" y="1919605"/>
            <a:ext cx="1041400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7"/>
          <p:cNvSpPr/>
          <p:nvPr>
            <p:custDataLst>
              <p:tags r:id="rId9"/>
            </p:custDataLst>
          </p:nvPr>
        </p:nvSpPr>
        <p:spPr>
          <a:xfrm>
            <a:off x="6335395" y="2025015"/>
            <a:ext cx="5547360" cy="4631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项目概览与核心功能</a:t>
            </a:r>
            <a:endParaRPr lang="en-US" sz="1600" dirty="0"/>
          </a:p>
        </p:txBody>
      </p:sp>
      <p:sp>
        <p:nvSpPr>
          <p:cNvPr id="13" name="Text 8"/>
          <p:cNvSpPr/>
          <p:nvPr>
            <p:custDataLst>
              <p:tags r:id="rId10"/>
            </p:custDataLst>
          </p:nvPr>
        </p:nvSpPr>
        <p:spPr>
          <a:xfrm>
            <a:off x="5268595" y="2755265"/>
            <a:ext cx="1041400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9"/>
          <p:cNvSpPr/>
          <p:nvPr>
            <p:custDataLst>
              <p:tags r:id="rId11"/>
            </p:custDataLst>
          </p:nvPr>
        </p:nvSpPr>
        <p:spPr>
          <a:xfrm>
            <a:off x="6335395" y="2860675"/>
            <a:ext cx="5598160" cy="4631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分布式场景问题剖析</a:t>
            </a:r>
            <a:endParaRPr lang="en-US" sz="1600" dirty="0"/>
          </a:p>
        </p:txBody>
      </p:sp>
      <p:sp>
        <p:nvSpPr>
          <p:cNvPr id="15" name="Text 10"/>
          <p:cNvSpPr/>
          <p:nvPr>
            <p:custDataLst>
              <p:tags r:id="rId12"/>
            </p:custDataLst>
          </p:nvPr>
        </p:nvSpPr>
        <p:spPr>
          <a:xfrm>
            <a:off x="5268595" y="3590925"/>
            <a:ext cx="1041400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1"/>
          <p:cNvSpPr/>
          <p:nvPr>
            <p:custDataLst>
              <p:tags r:id="rId13"/>
            </p:custDataLst>
          </p:nvPr>
        </p:nvSpPr>
        <p:spPr>
          <a:xfrm>
            <a:off x="6335395" y="3696335"/>
            <a:ext cx="5547360" cy="4631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技术方案与架构设计</a:t>
            </a:r>
            <a:endParaRPr lang="en-US" sz="1600" dirty="0"/>
          </a:p>
        </p:txBody>
      </p:sp>
      <p:sp>
        <p:nvSpPr>
          <p:cNvPr id="17" name="Text 12"/>
          <p:cNvSpPr/>
          <p:nvPr>
            <p:custDataLst>
              <p:tags r:id="rId14"/>
            </p:custDataLst>
          </p:nvPr>
        </p:nvSpPr>
        <p:spPr>
          <a:xfrm>
            <a:off x="5268595" y="4426585"/>
            <a:ext cx="1041400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3"/>
          <p:cNvSpPr/>
          <p:nvPr>
            <p:custDataLst>
              <p:tags r:id="rId15"/>
            </p:custDataLst>
          </p:nvPr>
        </p:nvSpPr>
        <p:spPr>
          <a:xfrm>
            <a:off x="6335395" y="4531995"/>
            <a:ext cx="5598160" cy="4631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测试评估与效果验证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0-d2t65l61bb2p4onbqqp0.png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-22860" y="0"/>
            <a:ext cx="1223772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48000" y="2294890"/>
            <a:ext cx="6096000" cy="13342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2744788" y="3899535"/>
            <a:ext cx="6702425" cy="20454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项目概览与核心功能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75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SyncCanvas-Distributed 项目总览</a:t>
            </a:r>
            <a:endParaRPr lang="en-US" sz="1600" dirty="0"/>
          </a:p>
        </p:txBody>
      </p:sp>
      <p:sp>
        <p:nvSpPr>
          <p:cNvPr id="5" name="Shape 1"/>
          <p:cNvSpPr/>
          <p:nvPr/>
        </p:nvSpPr>
        <p:spPr>
          <a:xfrm>
            <a:off x="1692275" y="2138680"/>
            <a:ext cx="9264015" cy="3397885"/>
          </a:xfrm>
          <a:prstGeom prst="roundRect">
            <a:avLst>
              <a:gd name="adj" fmla="val 10344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00760" y="1600200"/>
            <a:ext cx="4312285" cy="4312285"/>
          </a:xfrm>
          <a:prstGeom prst="ellipse">
            <a:avLst/>
          </a:prstGeom>
          <a:solidFill>
            <a:srgbClr val="FFFDE6"/>
          </a:solidFill>
        </p:spPr>
      </p:sp>
      <p:sp>
        <p:nvSpPr>
          <p:cNvPr id="7" name="Text 3"/>
          <p:cNvSpPr/>
          <p:nvPr/>
        </p:nvSpPr>
        <p:spPr>
          <a:xfrm>
            <a:off x="1649095" y="2425065"/>
            <a:ext cx="3015615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项目定位与核心价值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649095" y="3096895"/>
            <a:ext cx="3015615" cy="18851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SyncCanvas-Distributed是一款面向多用户实时协作的分布式画板系统，旨在解决传统协同工具在高并发场景下的延迟高、一致性差、可靠性不足等核心痛点，打造流畅稳定的协作体验。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633085" y="2507933"/>
            <a:ext cx="4644000" cy="4631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技术栈与架构特色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33085" y="3119120"/>
            <a:ext cx="4888865" cy="15178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系统采用WebSocket实现实时通信，结合Redis缓存、MongoDB持久化与Kafka异步解耦的完整技术栈，构建低延迟、高可用、强一致性的分布式协同架构。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635" y="-1905"/>
            <a:ext cx="4740275" cy="6859905"/>
          </a:xfrm>
          <a:prstGeom prst="rect">
            <a:avLst/>
          </a:prstGeom>
          <a:solidFill>
            <a:srgbClr val="FFFDE6">
              <a:alpha val="14902"/>
            </a:srgbClr>
          </a:solidFill>
        </p:spPr>
      </p:sp>
      <p:sp>
        <p:nvSpPr>
          <p:cNvPr id="5" name="Text 1"/>
          <p:cNvSpPr/>
          <p:nvPr/>
        </p:nvSpPr>
        <p:spPr>
          <a:xfrm>
            <a:off x="325120" y="319405"/>
            <a:ext cx="3785235" cy="9961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核心功能全景与交互体验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568325" y="2587625"/>
            <a:ext cx="3178810" cy="0"/>
          </a:xfrm>
          <a:prstGeom prst="line">
            <a:avLst/>
          </a:prstGeom>
          <a:noFill/>
          <a:ln w="31750">
            <a:solidFill>
              <a:srgbClr val="FFFDE6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568325" y="2498725"/>
            <a:ext cx="3178810" cy="0"/>
          </a:xfrm>
          <a:prstGeom prst="line">
            <a:avLst/>
          </a:prstGeom>
          <a:noFill/>
          <a:ln w="12700">
            <a:solidFill>
              <a:srgbClr val="FFFDE6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5000625" y="123380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 rot="5400000">
            <a:off x="5269230" y="1395095"/>
            <a:ext cx="271145" cy="252730"/>
          </a:xfrm>
          <a:prstGeom prst="triangle">
            <a:avLst>
              <a:gd name="adj" fmla="val 50000"/>
            </a:avLst>
          </a:prstGeom>
          <a:solidFill>
            <a:srgbClr val="FFFDE6"/>
          </a:solidFill>
        </p:spPr>
      </p:sp>
      <p:sp>
        <p:nvSpPr>
          <p:cNvPr id="10" name="Shape 6"/>
          <p:cNvSpPr/>
          <p:nvPr/>
        </p:nvSpPr>
        <p:spPr>
          <a:xfrm>
            <a:off x="5000625" y="3707765"/>
            <a:ext cx="6316980" cy="1905635"/>
          </a:xfrm>
          <a:prstGeom prst="roundRect">
            <a:avLst>
              <a:gd name="adj" fmla="val 632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 rot="5400000">
            <a:off x="5269230" y="3869055"/>
            <a:ext cx="271145" cy="252730"/>
          </a:xfrm>
          <a:prstGeom prst="triangle">
            <a:avLst>
              <a:gd name="adj" fmla="val 50000"/>
            </a:avLst>
          </a:prstGeom>
          <a:solidFill>
            <a:srgbClr val="FFFDE6"/>
          </a:solidFill>
        </p:spPr>
      </p:sp>
      <p:sp>
        <p:nvSpPr>
          <p:cNvPr id="12" name="Text 8"/>
          <p:cNvSpPr/>
          <p:nvPr/>
        </p:nvSpPr>
        <p:spPr>
          <a:xfrm>
            <a:off x="568325" y="1746250"/>
            <a:ext cx="3178810" cy="404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丰富绘制工具集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68960" y="2661920"/>
            <a:ext cx="3182620" cy="10423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支持笔画、矩形、圆形、直线、文字、橡皮擦等完整绘制工具，满足多样化创作需求。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586095" y="1362710"/>
            <a:ext cx="5475605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实时协同与感知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163185" y="1706245"/>
            <a:ext cx="5905500" cy="68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多人在线实时编辑，用户光标高亮显示，在线列表动态更新，操作毫秒级同步。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5586095" y="3836670"/>
            <a:ext cx="5475605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操作控制与回退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163185" y="4180205"/>
            <a:ext cx="5905500" cy="3902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撤销与清空功能完整支持，确保用户操作可控，协作过程安全可追溯。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91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性能与可靠性驱动的体验升级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61150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341566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621982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902398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9883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极致低延迟体验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780415" y="2714625"/>
            <a:ext cx="2176145" cy="13288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前端轨迹采样与DP压缩将绘制延迟降至十毫秒级，用户几乎无感知等待。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360299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乐观更新策略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358457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本地即时渲染消除操作等待感，异步确认保障最终一致性。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640715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断网连续协作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38873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离线缓存与断线重连机制确保网络波动下协作不中断，数据不丢失。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921131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快速状态恢复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919289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快照与增量回放实现历史状态秒级恢复，长会话场景流畅无卡顿。</a:t>
            </a:r>
            <a:endParaRPr lang="en-US" sz="1600" dirty="0"/>
          </a:p>
        </p:txBody>
      </p:sp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126365" y="104140"/>
            <a:ext cx="12192635" cy="6880860"/>
          </a:xfrm>
          <a:prstGeom prst="rect">
            <a:avLst/>
          </a:prstGeom>
        </p:spPr>
      </p:pic>
      <p:pic>
        <p:nvPicPr>
          <p:cNvPr id="18" name="图片 17"/>
          <p:cNvPicPr/>
          <p:nvPr/>
        </p:nvPicPr>
        <p:blipFill>
          <a:blip r:embed="rId15"/>
          <a:stretch>
            <a:fillRect/>
          </a:stretch>
        </p:blipFill>
        <p:spPr>
          <a:xfrm>
            <a:off x="798830" y="470535"/>
            <a:ext cx="10739120" cy="56521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91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性能与可靠性驱动的体验升级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61150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341566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621982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902398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9883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极致低延迟体验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780415" y="2714625"/>
            <a:ext cx="2176145" cy="13288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前端轨迹采样与DP压缩将绘制延迟降至十毫秒级，用户几乎无感知等待。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360299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乐观更新策略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358457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本地即时渲染消除操作等待感，异步确认保障最终一致性。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640715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断网连续协作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38873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离线缓存与断线重连机制确保网络波动下协作不中断，数据不丢失。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921131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快速状态恢复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919289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快照与增量回放实现历史状态秒级恢复，长会话场景流畅无卡顿。</a:t>
            </a:r>
            <a:endParaRPr lang="en-US" sz="1600" dirty="0"/>
          </a:p>
        </p:txBody>
      </p:sp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126365" y="104140"/>
            <a:ext cx="12192635" cy="688086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5"/>
          <a:stretch>
            <a:fillRect/>
          </a:stretch>
        </p:blipFill>
        <p:spPr>
          <a:xfrm>
            <a:off x="275590" y="265430"/>
            <a:ext cx="11590655" cy="62922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91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性能与可靠性驱动的体验升级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61150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341566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621982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902398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9883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极致低延迟体验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780415" y="2714625"/>
            <a:ext cx="2176145" cy="13288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前端轨迹采样与DP压缩将绘制延迟降至十毫秒级，用户几乎无感知等待。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360299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乐观更新策略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358457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本地即时渲染消除操作等待感，异步确认保障最终一致性。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640715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断网连续协作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38873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离线缓存与断线重连机制确保网络波动下协作不中断，数据不丢失。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921131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快速状态恢复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919289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快照与增量回放实现历史状态秒级恢复，长会话场景流畅无卡顿。</a:t>
            </a:r>
            <a:endParaRPr lang="en-US" sz="1600" dirty="0"/>
          </a:p>
        </p:txBody>
      </p:sp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126365" y="104140"/>
            <a:ext cx="12192635" cy="6880860"/>
          </a:xfrm>
          <a:prstGeom prst="rect">
            <a:avLst/>
          </a:prstGeom>
        </p:spPr>
      </p:pic>
      <p:pic>
        <p:nvPicPr>
          <p:cNvPr id="19" name="图片 18"/>
          <p:cNvPicPr/>
          <p:nvPr/>
        </p:nvPicPr>
        <p:blipFill>
          <a:blip r:embed="rId15"/>
          <a:stretch>
            <a:fillRect/>
          </a:stretch>
        </p:blipFill>
        <p:spPr>
          <a:xfrm>
            <a:off x="549275" y="337820"/>
            <a:ext cx="11202670" cy="608203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91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性能与可靠性驱动的体验升级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61150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341566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621982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902398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9883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极致低延迟体验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780415" y="2714625"/>
            <a:ext cx="2176145" cy="13288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前端轨迹采样与DP压缩将绘制延迟降至十毫秒级，用户几乎无感知等待。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360299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乐观更新策略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358457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本地即时渲染消除操作等待感，异步确认保障最终一致性。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640715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断网连续协作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38873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离线缓存与断线重连机制确保网络波动下协作不中断，数据不丢失。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921131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快速状态恢复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919289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快照与增量回放实现历史状态秒级恢复，长会话场景流畅无卡顿。</a:t>
            </a:r>
            <a:endParaRPr lang="en-US" sz="1600" dirty="0"/>
          </a:p>
        </p:txBody>
      </p:sp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15"/>
          <a:stretch>
            <a:fillRect/>
          </a:stretch>
        </p:blipFill>
        <p:spPr>
          <a:xfrm>
            <a:off x="351155" y="387350"/>
            <a:ext cx="11589385" cy="63144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0-d2t65l61bb2p4onbqqp0.png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-22860" y="0"/>
            <a:ext cx="1223772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48000" y="2294890"/>
            <a:ext cx="6096000" cy="13342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2744788" y="3899535"/>
            <a:ext cx="6702425" cy="20454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分布式场景问题剖析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Shape 0"/>
          <p:cNvSpPr/>
          <p:nvPr>
            <p:custDataLst>
              <p:tags r:id="rId3"/>
            </p:custDataLst>
          </p:nvPr>
        </p:nvSpPr>
        <p:spPr>
          <a:xfrm>
            <a:off x="108648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5" name="Shape 1"/>
          <p:cNvSpPr/>
          <p:nvPr>
            <p:custDataLst>
              <p:tags r:id="rId4"/>
            </p:custDataLst>
          </p:nvPr>
        </p:nvSpPr>
        <p:spPr>
          <a:xfrm>
            <a:off x="4500880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5"/>
            </p:custDataLst>
          </p:nvPr>
        </p:nvSpPr>
        <p:spPr>
          <a:xfrm>
            <a:off x="7915275" y="1710055"/>
            <a:ext cx="3119120" cy="4194175"/>
          </a:xfrm>
          <a:prstGeom prst="roundRect">
            <a:avLst>
              <a:gd name="adj" fmla="val 4788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11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高并发与实时绘制的性能瓶颈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1363980" y="1902460"/>
            <a:ext cx="722630" cy="6490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1313180" y="2498090"/>
            <a:ext cx="265557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消息广播风暴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1294130" y="3165475"/>
            <a:ext cx="2694940" cy="1287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多用户高频绘制时WebSocket消息量指数级增长，服务器CPU与带宽资源面临巨大压力，网络拥塞严重。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4778375" y="1902460"/>
            <a:ext cx="912495" cy="6490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4727575" y="2498090"/>
            <a:ext cx="265557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历史回放卡顿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4708525" y="3165475"/>
            <a:ext cx="2694940" cy="9881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长会话场景下加载大量历史数据造成明显卡顿，用户体验急剧下降，亟需优化加载策略。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8192770" y="1902460"/>
            <a:ext cx="912495" cy="6490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8141970" y="2498090"/>
            <a:ext cx="265557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资源持续攀升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8122920" y="3165475"/>
            <a:ext cx="2694940" cy="98817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系统长时间运行后内存占用持续增加，响应延迟逐渐恶化，缺乏有效的资源回收与流控手段。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75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网络波动与协作冲突的可用性挑战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1205230" y="1742440"/>
            <a:ext cx="9781540" cy="176784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1443355" y="1963420"/>
            <a:ext cx="1325880" cy="1325880"/>
          </a:xfrm>
          <a:prstGeom prst="roundRect">
            <a:avLst>
              <a:gd name="adj" fmla="val 50000"/>
            </a:avLst>
          </a:prstGeom>
          <a:solidFill>
            <a:srgbClr val="FFFDE6"/>
          </a:solidFill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1205230" y="3987800"/>
            <a:ext cx="9781540" cy="176784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1443355" y="4208780"/>
            <a:ext cx="1325880" cy="1325880"/>
          </a:xfrm>
          <a:prstGeom prst="roundRect">
            <a:avLst>
              <a:gd name="adj" fmla="val 50000"/>
            </a:avLst>
          </a:prstGeom>
          <a:solidFill>
            <a:srgbClr val="FFFDE6"/>
          </a:solidFill>
        </p:spPr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1619885" y="2225675"/>
            <a:ext cx="972185" cy="7766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3027680" y="2020570"/>
            <a:ext cx="715772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断网恢复难题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3027680" y="2372360"/>
            <a:ext cx="7439660" cy="68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网络抖动或短暂断连时用户操作可能丢失或延迟到达，断线重连后需快速恢复视图并同步离线期间全部变更，状态一致性维护困难。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1619885" y="4471035"/>
            <a:ext cx="972185" cy="7766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3027680" y="4265930"/>
            <a:ext cx="715772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并发冲突与反馈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3027680" y="4617720"/>
            <a:ext cx="7439660" cy="68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多人同时操作同一区域可能产生覆盖冲突，操作反馈不及时显著降低协作流畅度，直接影响用户对系统稳定性的信任。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1-d2t65le1bb2p4onbqqs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890" y="3757930"/>
            <a:ext cx="3034030" cy="2984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2:11:01-d2t65le1bb2p4onbqqs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540" y="3754755"/>
            <a:ext cx="3034030" cy="29845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772160" y="1636395"/>
            <a:ext cx="3249295" cy="4445000"/>
          </a:xfrm>
          <a:prstGeom prst="round2DiagRect">
            <a:avLst>
              <a:gd name="adj1" fmla="val 7758"/>
              <a:gd name="adj2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Text 1"/>
          <p:cNvSpPr/>
          <p:nvPr/>
        </p:nvSpPr>
        <p:spPr>
          <a:xfrm>
            <a:off x="5511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消息异常与数据一致性可靠性难题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009465" y="1956548"/>
            <a:ext cx="2844690" cy="404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消息丢失风险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1009465" y="2768414"/>
            <a:ext cx="2766329" cy="307590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分布式环境下消息可能丢失，导致画布出现缺笔等异常。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239895" y="1532890"/>
            <a:ext cx="6523990" cy="4047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重复与乱序问题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4231005" y="1976120"/>
            <a:ext cx="7204075" cy="4083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消息重复投递或乱序到达，造成重影、绘制顺序错乱。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4336415" y="3512185"/>
            <a:ext cx="336169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副本一致性困难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4336415" y="4027170"/>
            <a:ext cx="3267710" cy="68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多节点数据副本维护困难，故障恢复后易状态分叉。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8288655" y="3512185"/>
            <a:ext cx="336169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故障自愈需求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8288655" y="4027170"/>
            <a:ext cx="3267710" cy="68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需保证部分组件故障时用户数据依然安全可恢复。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0-d2t65l61bb2p4onbqqp0.png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-22860" y="0"/>
            <a:ext cx="1223772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48000" y="2294890"/>
            <a:ext cx="6096000" cy="13342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2744788" y="3899535"/>
            <a:ext cx="6702425" cy="20454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技术方案与架构设计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75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WebSocket实时通信与Redis缓存架构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5813425" y="2705100"/>
            <a:ext cx="5360035" cy="2709545"/>
          </a:xfrm>
          <a:custGeom>
            <a:avLst/>
            <a:gdLst/>
            <a:ahLst/>
            <a:cxnLst/>
            <a:rect l="l" t="t" r="r" b="b"/>
            <a:pathLst>
              <a:path w="5360035" h="2709545">
                <a:moveTo>
                  <a:pt x="4633675" y="2709545"/>
                </a:moveTo>
                <a:lnTo>
                  <a:pt x="0" y="2709545"/>
                </a:lnTo>
                <a:lnTo>
                  <a:pt x="726360" y="0"/>
                </a:lnTo>
                <a:lnTo>
                  <a:pt x="5360035" y="0"/>
                </a:lnTo>
                <a:close/>
              </a:path>
            </a:pathLst>
          </a:custGeom>
          <a:gradFill flip="none" rotWithShape="1">
            <a:gsLst>
              <a:gs pos="0">
                <a:srgbClr val="FFFDE6">
                  <a:alpha val="0"/>
                </a:srgbClr>
              </a:gs>
              <a:gs pos="20000">
                <a:srgbClr val="FFFDE6">
                  <a:alpha val="0"/>
                </a:srgbClr>
              </a:gs>
              <a:gs pos="100000">
                <a:srgbClr val="FFFDE6">
                  <a:alpha val="40000"/>
                </a:srgbClr>
              </a:gs>
            </a:gsLst>
            <a:lin ang="10800000" scaled="1"/>
          </a:gradFill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915670" y="2276475"/>
            <a:ext cx="5360035" cy="2709545"/>
          </a:xfrm>
          <a:custGeom>
            <a:avLst/>
            <a:gdLst/>
            <a:ahLst/>
            <a:cxnLst/>
            <a:rect l="l" t="t" r="r" b="b"/>
            <a:pathLst>
              <a:path w="5360035" h="2709545">
                <a:moveTo>
                  <a:pt x="4633675" y="2709545"/>
                </a:moveTo>
                <a:lnTo>
                  <a:pt x="0" y="2709545"/>
                </a:lnTo>
                <a:lnTo>
                  <a:pt x="726360" y="0"/>
                </a:lnTo>
                <a:lnTo>
                  <a:pt x="5360035" y="0"/>
                </a:lnTo>
                <a:close/>
              </a:path>
            </a:pathLst>
          </a:custGeom>
          <a:gradFill flip="none" rotWithShape="1">
            <a:gsLst>
              <a:gs pos="0">
                <a:srgbClr val="FFFDE6">
                  <a:alpha val="0"/>
                </a:srgbClr>
              </a:gs>
              <a:gs pos="20000">
                <a:srgbClr val="FFFDE6">
                  <a:alpha val="0"/>
                </a:srgbClr>
              </a:gs>
              <a:gs pos="100000">
                <a:srgbClr val="FFFDE6">
                  <a:alpha val="40000"/>
                </a:srgbClr>
              </a:gs>
            </a:gsLst>
            <a:lin ang="0" scaled="1"/>
          </a:gradFill>
        </p:spPr>
      </p:sp>
      <p:sp>
        <p:nvSpPr>
          <p:cNvPr id="7" name="Shape 3"/>
          <p:cNvSpPr/>
          <p:nvPr/>
        </p:nvSpPr>
        <p:spPr>
          <a:xfrm>
            <a:off x="-3810" y="6554470"/>
            <a:ext cx="12206605" cy="303530"/>
          </a:xfrm>
          <a:prstGeom prst="roundRect">
            <a:avLst>
              <a:gd name="adj" fmla="val 0"/>
            </a:avLst>
          </a:prstGeom>
          <a:solidFill>
            <a:srgbClr val="FFFDE6"/>
          </a:solidFill>
        </p:spPr>
      </p:sp>
      <p:sp>
        <p:nvSpPr>
          <p:cNvPr id="8" name="Shape 4"/>
          <p:cNvSpPr/>
          <p:nvPr>
            <p:custDataLst>
              <p:tags r:id="rId5"/>
            </p:custDataLst>
          </p:nvPr>
        </p:nvSpPr>
        <p:spPr>
          <a:xfrm>
            <a:off x="4199255" y="1933350"/>
            <a:ext cx="1457325" cy="504006"/>
          </a:xfrm>
          <a:prstGeom prst="parallelogram">
            <a:avLst>
              <a:gd name="adj" fmla="val 20892"/>
            </a:avLst>
          </a:prstGeom>
          <a:solidFill>
            <a:srgbClr val="FFFDE6"/>
          </a:solidFill>
        </p:spPr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4199255" y="1933350"/>
            <a:ext cx="1457325" cy="5040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1254760" y="2686685"/>
            <a:ext cx="3806190" cy="369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全双工长连接设计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827405" y="3108960"/>
            <a:ext cx="4232910" cy="13328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采用WebSocket建立全双工长连接，实现客户端与服务器之间的低延迟双向数据推送，为实时协同提供通信基础。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允许服务端主动推送数据，适用于画笔轨迹同步、光标位置共享、用户加入/离开通知等高频交互场景。</a:t>
            </a:r>
            <a:endParaRPr lang="zh-CN" altLang="en-US" sz="14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r"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2" name="Shape 8"/>
          <p:cNvSpPr/>
          <p:nvPr>
            <p:custDataLst>
              <p:tags r:id="rId9"/>
            </p:custDataLst>
          </p:nvPr>
        </p:nvSpPr>
        <p:spPr>
          <a:xfrm>
            <a:off x="6471285" y="5208045"/>
            <a:ext cx="1457325" cy="504006"/>
          </a:xfrm>
          <a:prstGeom prst="parallelogram">
            <a:avLst>
              <a:gd name="adj" fmla="val 20892"/>
            </a:avLst>
          </a:prstGeom>
          <a:solidFill>
            <a:srgbClr val="FFFDE6"/>
          </a:solidFill>
        </p:spPr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471285" y="5208045"/>
            <a:ext cx="1457325" cy="5040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19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6994525" y="3189605"/>
            <a:ext cx="3806825" cy="369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Redis共享缓存层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6995160" y="3611880"/>
            <a:ext cx="4233600" cy="16770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引入Redis作为共享缓存层存储用户连接映射与房间会话状态，利用发布订阅机制实现跨实例消息广播，支撑大规模多人在线协作。</a:t>
            </a:r>
            <a:r>
              <a:rPr lang="zh-CN" altLang="en-US" sz="1400" dirty="0">
                <a:solidFill>
                  <a:schemeClr val="bg1"/>
                </a:solidFill>
              </a:rPr>
              <a:t>当服务端实例收到用户绘制操作后，将消息发布到 </a:t>
            </a:r>
            <a:r>
              <a:rPr lang="en-US" altLang="zh-CN" sz="1400" dirty="0">
                <a:solidFill>
                  <a:schemeClr val="bg1"/>
                </a:solidFill>
              </a:rPr>
              <a:t>Redis </a:t>
            </a:r>
            <a:r>
              <a:rPr lang="zh-CN" altLang="en-US" sz="1400" dirty="0">
                <a:solidFill>
                  <a:schemeClr val="bg1"/>
                </a:solidFill>
              </a:rPr>
              <a:t>的对应频道，所有订阅该频道的其他实例收到后转发给各自连接的客户端，实现跨实例的实时同步。</a:t>
            </a:r>
            <a:endParaRPr lang="zh-CN" alt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575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MongoDB持久化与Kafka异步解耦机制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1151255" y="5075555"/>
            <a:ext cx="3107690" cy="761365"/>
          </a:xfrm>
          <a:prstGeom prst="rtTriangle">
            <a:avLst/>
          </a:prstGeom>
          <a:solidFill>
            <a:srgbClr val="FFFDE6"/>
          </a:solidFill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 flipH="1">
            <a:off x="1150620" y="4772025"/>
            <a:ext cx="3107690" cy="1064895"/>
          </a:xfrm>
          <a:prstGeom prst="rtTriangle">
            <a:avLst/>
          </a:prstGeom>
          <a:solidFill>
            <a:srgbClr val="FFFDE6"/>
          </a:solidFill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11391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4592955" y="5075555"/>
            <a:ext cx="3107690" cy="761365"/>
          </a:xfrm>
          <a:prstGeom prst="rtTriangle">
            <a:avLst/>
          </a:prstGeom>
          <a:solidFill>
            <a:srgbClr val="FFFDE6"/>
          </a:solidFill>
        </p:spPr>
      </p:sp>
      <p:sp>
        <p:nvSpPr>
          <p:cNvPr id="9" name="Shape 5"/>
          <p:cNvSpPr/>
          <p:nvPr>
            <p:custDataLst>
              <p:tags r:id="rId7"/>
            </p:custDataLst>
          </p:nvPr>
        </p:nvSpPr>
        <p:spPr>
          <a:xfrm flipH="1">
            <a:off x="4592320" y="4772025"/>
            <a:ext cx="3107690" cy="1064895"/>
          </a:xfrm>
          <a:prstGeom prst="rtTriangle">
            <a:avLst/>
          </a:prstGeom>
          <a:solidFill>
            <a:srgbClr val="FFFDE6"/>
          </a:solidFill>
        </p:spPr>
      </p:sp>
      <p:sp>
        <p:nvSpPr>
          <p:cNvPr id="10" name="Shape 6"/>
          <p:cNvSpPr/>
          <p:nvPr>
            <p:custDataLst>
              <p:tags r:id="rId8"/>
            </p:custDataLst>
          </p:nvPr>
        </p:nvSpPr>
        <p:spPr>
          <a:xfrm>
            <a:off x="45808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11" name="Shape 7"/>
          <p:cNvSpPr/>
          <p:nvPr>
            <p:custDataLst>
              <p:tags r:id="rId9"/>
            </p:custDataLst>
          </p:nvPr>
        </p:nvSpPr>
        <p:spPr>
          <a:xfrm>
            <a:off x="8034655" y="5075555"/>
            <a:ext cx="3107690" cy="761365"/>
          </a:xfrm>
          <a:prstGeom prst="rtTriangle">
            <a:avLst/>
          </a:prstGeom>
          <a:solidFill>
            <a:srgbClr val="FFFDE6"/>
          </a:solidFill>
        </p:spPr>
      </p:sp>
      <p:sp>
        <p:nvSpPr>
          <p:cNvPr id="12" name="Shape 8"/>
          <p:cNvSpPr/>
          <p:nvPr>
            <p:custDataLst>
              <p:tags r:id="rId10"/>
            </p:custDataLst>
          </p:nvPr>
        </p:nvSpPr>
        <p:spPr>
          <a:xfrm flipH="1">
            <a:off x="8034020" y="4772025"/>
            <a:ext cx="3107690" cy="1064895"/>
          </a:xfrm>
          <a:prstGeom prst="rtTriangle">
            <a:avLst/>
          </a:prstGeom>
          <a:solidFill>
            <a:srgbClr val="FFFDE6"/>
          </a:solidFill>
        </p:spPr>
      </p:sp>
      <p:sp>
        <p:nvSpPr>
          <p:cNvPr id="13" name="Shape 9"/>
          <p:cNvSpPr/>
          <p:nvPr>
            <p:custDataLst>
              <p:tags r:id="rId11"/>
            </p:custDataLst>
          </p:nvPr>
        </p:nvSpPr>
        <p:spPr>
          <a:xfrm>
            <a:off x="8022590" y="1641475"/>
            <a:ext cx="3119120" cy="4194175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1365885" y="1803400"/>
            <a:ext cx="2655570" cy="420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灵活文档存储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1346835" y="2470785"/>
            <a:ext cx="2694940" cy="9950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MongoDB存储操作日志、会话快照与历史版本，支持绘制元素的灵活存储。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4807585" y="1803400"/>
            <a:ext cx="2655570" cy="420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异步消息解耦</a:t>
            </a:r>
            <a:endParaRPr lang="en-US" sz="1600" dirty="0"/>
          </a:p>
        </p:txBody>
      </p:sp>
      <p:sp>
        <p:nvSpPr>
          <p:cNvPr id="17" name="Text 13"/>
          <p:cNvSpPr/>
          <p:nvPr>
            <p:custDataLst>
              <p:tags r:id="rId15"/>
            </p:custDataLst>
          </p:nvPr>
        </p:nvSpPr>
        <p:spPr>
          <a:xfrm>
            <a:off x="4788535" y="2470785"/>
            <a:ext cx="2694940" cy="12966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altLang="zh-CN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Kafka 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将实时操作流与持久化解耦，削峰填谷缓解数据库写入压力，避免高峰期直接对 </a:t>
            </a:r>
            <a:r>
              <a:rPr lang="en-US" altLang="zh-CN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MongoDB </a:t>
            </a:r>
            <a:r>
              <a:rPr lang="zh-CN" alt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产生大量写入请求</a:t>
            </a: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18" name="Text 14"/>
          <p:cNvSpPr/>
          <p:nvPr>
            <p:custDataLst>
              <p:tags r:id="rId16"/>
            </p:custDataLst>
          </p:nvPr>
        </p:nvSpPr>
        <p:spPr>
          <a:xfrm>
            <a:off x="8249285" y="1803400"/>
            <a:ext cx="2655570" cy="420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批量写入优化</a:t>
            </a:r>
            <a:endParaRPr lang="en-US" sz="1600" dirty="0"/>
          </a:p>
        </p:txBody>
      </p:sp>
      <p:sp>
        <p:nvSpPr>
          <p:cNvPr id="19" name="Text 15"/>
          <p:cNvSpPr/>
          <p:nvPr>
            <p:custDataLst>
              <p:tags r:id="rId17"/>
            </p:custDataLst>
          </p:nvPr>
        </p:nvSpPr>
        <p:spPr>
          <a:xfrm>
            <a:off x="8230235" y="2470785"/>
            <a:ext cx="2694940" cy="7101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Kafka消费者异步批量写入MongoDB，提升系统吞吐量。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1-d2t65le1bb2p4onbqqs0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78000" y="1996440"/>
            <a:ext cx="7369810" cy="298450"/>
          </a:xfrm>
          <a:prstGeom prst="rect">
            <a:avLst/>
          </a:prstGeom>
        </p:spPr>
      </p:pic>
      <p:pic>
        <p:nvPicPr>
          <p:cNvPr id="5" name="Image 3" descr="https://kimi-img.moonshot.cn/pub/slides/slides_tmpl/image/25-09-05-12:11:01-d2t65le1bb2p4onbqqs0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778000" y="4220845"/>
            <a:ext cx="7369810" cy="2984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9575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快照机制与增量回放恢复方案</a:t>
            </a:r>
            <a:endParaRPr lang="en-US" sz="1600" dirty="0"/>
          </a:p>
        </p:txBody>
      </p:sp>
      <p:sp>
        <p:nvSpPr>
          <p:cNvPr id="7" name="Shape 1"/>
          <p:cNvSpPr/>
          <p:nvPr>
            <p:custDataLst>
              <p:tags r:id="rId6"/>
            </p:custDataLst>
          </p:nvPr>
        </p:nvSpPr>
        <p:spPr>
          <a:xfrm>
            <a:off x="1487805" y="1603375"/>
            <a:ext cx="8989695" cy="1905635"/>
          </a:xfrm>
          <a:prstGeom prst="roundRect">
            <a:avLst>
              <a:gd name="adj" fmla="val 632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2"/>
          <p:cNvSpPr/>
          <p:nvPr>
            <p:custDataLst>
              <p:tags r:id="rId7"/>
            </p:custDataLst>
          </p:nvPr>
        </p:nvSpPr>
        <p:spPr>
          <a:xfrm>
            <a:off x="1487805" y="3849370"/>
            <a:ext cx="8989695" cy="1905635"/>
          </a:xfrm>
          <a:prstGeom prst="roundRect">
            <a:avLst>
              <a:gd name="adj" fmla="val 6321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Shape 3"/>
          <p:cNvSpPr/>
          <p:nvPr/>
        </p:nvSpPr>
        <p:spPr>
          <a:xfrm>
            <a:off x="-6985" y="6157595"/>
            <a:ext cx="12206605" cy="700405"/>
          </a:xfrm>
          <a:prstGeom prst="roundRect">
            <a:avLst>
              <a:gd name="adj" fmla="val 0"/>
            </a:avLst>
          </a:prstGeom>
          <a:solidFill>
            <a:srgbClr val="FFFDE6"/>
          </a:solidFill>
        </p:spPr>
      </p:sp>
      <p:sp>
        <p:nvSpPr>
          <p:cNvPr id="10" name="Text 4"/>
          <p:cNvSpPr/>
          <p:nvPr>
            <p:custDataLst>
              <p:tags r:id="rId8"/>
            </p:custDataLst>
          </p:nvPr>
        </p:nvSpPr>
        <p:spPr>
          <a:xfrm>
            <a:off x="1737995" y="1732280"/>
            <a:ext cx="7792085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定期快照与快速恢复</a:t>
            </a:r>
            <a:endParaRPr lang="en-US" sz="1600" dirty="0"/>
          </a:p>
        </p:txBody>
      </p:sp>
      <p:sp>
        <p:nvSpPr>
          <p:cNvPr id="11" name="Text 5"/>
          <p:cNvSpPr/>
          <p:nvPr>
            <p:custDataLst>
              <p:tags r:id="rId9"/>
            </p:custDataLst>
          </p:nvPr>
        </p:nvSpPr>
        <p:spPr>
          <a:xfrm>
            <a:off x="1718945" y="2205355"/>
            <a:ext cx="8404225" cy="7252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系统定期生成画布全量快照存储于MongoDB，新用户加入或断线重连时仅需加载最新快照及后续增量操作，大幅缩短初始化时间。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0"/>
            </p:custDataLst>
          </p:nvPr>
        </p:nvSpPr>
        <p:spPr>
          <a:xfrm>
            <a:off x="1737995" y="3978275"/>
            <a:ext cx="7792085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离线缓存与自动同步</a:t>
            </a:r>
            <a:endParaRPr lang="en-US" sz="1600" dirty="0"/>
          </a:p>
        </p:txBody>
      </p:sp>
      <p:sp>
        <p:nvSpPr>
          <p:cNvPr id="13" name="Text 7"/>
          <p:cNvSpPr/>
          <p:nvPr>
            <p:custDataLst>
              <p:tags r:id="rId11"/>
            </p:custDataLst>
          </p:nvPr>
        </p:nvSpPr>
        <p:spPr>
          <a:xfrm>
            <a:off x="1718945" y="4451350"/>
            <a:ext cx="8404225" cy="7252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离线缓存机制保障断网期间操作不丢失，重连后自动同步增量数据；历史回放基于时间序列增量渲染，支持任意时刻状态回溯。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19685" y="-22860"/>
            <a:ext cx="12192635" cy="6880860"/>
          </a:xfrm>
          <a:prstGeom prst="rect">
            <a:avLst/>
          </a:prstGeom>
        </p:spPr>
      </p:pic>
      <p:sp>
        <p:nvSpPr>
          <p:cNvPr id="4" name="Shape 0"/>
          <p:cNvSpPr/>
          <p:nvPr>
            <p:custDataLst>
              <p:tags r:id="rId3"/>
            </p:custDataLst>
          </p:nvPr>
        </p:nvSpPr>
        <p:spPr>
          <a:xfrm rot="5400000">
            <a:off x="4478020" y="-1059815"/>
            <a:ext cx="2631440" cy="9457055"/>
          </a:xfrm>
          <a:custGeom>
            <a:avLst/>
            <a:gdLst/>
            <a:ahLst/>
            <a:cxnLst/>
            <a:rect l="l" t="t" r="r" b="b"/>
            <a:pathLst>
              <a:path w="3455035" h="2957195">
                <a:moveTo>
                  <a:pt x="1914525" y="0"/>
                </a:moveTo>
                <a:lnTo>
                  <a:pt x="2684780" y="0"/>
                </a:lnTo>
                <a:lnTo>
                  <a:pt x="3455035" y="1478597"/>
                </a:lnTo>
                <a:lnTo>
                  <a:pt x="2684780" y="2957195"/>
                </a:lnTo>
                <a:lnTo>
                  <a:pt x="0" y="2957195"/>
                </a:lnTo>
                <a:lnTo>
                  <a:pt x="0" y="0"/>
                </a:lnTo>
                <a:lnTo>
                  <a:pt x="1914525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5" name="Shape 1"/>
          <p:cNvSpPr/>
          <p:nvPr>
            <p:custDataLst>
              <p:tags r:id="rId4"/>
            </p:custDataLst>
          </p:nvPr>
        </p:nvSpPr>
        <p:spPr>
          <a:xfrm>
            <a:off x="1065530" y="1943100"/>
            <a:ext cx="9490710" cy="762000"/>
          </a:xfrm>
          <a:prstGeom prst="roundRect">
            <a:avLst>
              <a:gd name="adj" fmla="val 0"/>
            </a:avLst>
          </a:prstGeom>
          <a:solidFill>
            <a:srgbClr val="FFFDE6"/>
          </a:solidFill>
        </p:spPr>
      </p:sp>
      <p:sp>
        <p:nvSpPr>
          <p:cNvPr id="6" name="Shape 2"/>
          <p:cNvSpPr/>
          <p:nvPr>
            <p:custDataLst>
              <p:tags r:id="rId5"/>
            </p:custDataLst>
          </p:nvPr>
        </p:nvSpPr>
        <p:spPr>
          <a:xfrm>
            <a:off x="2017395" y="5951220"/>
            <a:ext cx="1052195" cy="121920"/>
          </a:xfrm>
          <a:prstGeom prst="ellipse">
            <a:avLst/>
          </a:prstGeom>
          <a:solidFill>
            <a:srgbClr val="FFFDE6">
              <a:alpha val="65098"/>
            </a:srgbClr>
          </a:solidFill>
        </p:spPr>
      </p:sp>
      <p:sp>
        <p:nvSpPr>
          <p:cNvPr id="9" name="Shape 5"/>
          <p:cNvSpPr/>
          <p:nvPr>
            <p:custDataLst>
              <p:tags r:id="rId6"/>
            </p:custDataLst>
          </p:nvPr>
        </p:nvSpPr>
        <p:spPr>
          <a:xfrm>
            <a:off x="5550535" y="5554980"/>
            <a:ext cx="1052195" cy="121920"/>
          </a:xfrm>
          <a:prstGeom prst="ellipse">
            <a:avLst/>
          </a:prstGeom>
          <a:solidFill>
            <a:srgbClr val="FFFDE6">
              <a:alpha val="65098"/>
            </a:srgbClr>
          </a:solidFill>
        </p:spPr>
      </p:sp>
      <p:sp>
        <p:nvSpPr>
          <p:cNvPr id="12" name="Shape 8"/>
          <p:cNvSpPr/>
          <p:nvPr>
            <p:custDataLst>
              <p:tags r:id="rId7"/>
            </p:custDataLst>
          </p:nvPr>
        </p:nvSpPr>
        <p:spPr>
          <a:xfrm>
            <a:off x="9083675" y="5951220"/>
            <a:ext cx="1052195" cy="121920"/>
          </a:xfrm>
          <a:prstGeom prst="ellipse">
            <a:avLst/>
          </a:prstGeom>
          <a:solidFill>
            <a:srgbClr val="FFFDE6">
              <a:alpha val="65098"/>
            </a:srgbClr>
          </a:solidFill>
        </p:spPr>
      </p:sp>
      <p:sp>
        <p:nvSpPr>
          <p:cNvPr id="13" name="Text 9"/>
          <p:cNvSpPr/>
          <p:nvPr/>
        </p:nvSpPr>
        <p:spPr>
          <a:xfrm>
            <a:off x="5511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前端性能优化与渲染加速策略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8"/>
            </p:custDataLst>
          </p:nvPr>
        </p:nvSpPr>
        <p:spPr>
          <a:xfrm>
            <a:off x="4541520" y="2141855"/>
            <a:ext cx="255651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轨迹压缩与采样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9"/>
            </p:custDataLst>
          </p:nvPr>
        </p:nvSpPr>
        <p:spPr>
          <a:xfrm>
            <a:off x="1136015" y="2760980"/>
            <a:ext cx="9013190" cy="22244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采用轨迹采样算法减少绘制点数量，DP压缩对笔画路径进行有损压缩，在保持视觉平滑度前提下降低数据传输量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鼠标/触摸移动事件触发频率可达 60–120 次/秒，直接发送所有点会造成网络拥堵。按时间阈值（如每 10</a:t>
            </a:r>
            <a:r>
              <a:rPr lang="en-US" altLang="zh-CN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ms）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或距离阈值（如移动超过 1</a:t>
            </a:r>
            <a:r>
              <a:rPr lang="en-US" altLang="zh-CN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px 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才记录）进行采样。</a:t>
            </a:r>
            <a:endParaRPr lang="zh-CN" altLang="en-US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endParaRPr lang="en-US" altLang="zh-CN" sz="16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ctr">
              <a:lnSpc>
                <a:spcPct val="100000"/>
              </a:lnSpc>
            </a:pPr>
            <a:r>
              <a:rPr lang="en-US" altLang="zh-CN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DP </a:t>
            </a:r>
            <a:r>
              <a:rPr lang="zh-CN" alt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压缩：对已采样的路径点进行离线压缩，保留拐点，剔除近似直线上的中间点。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pic>
        <p:nvPicPr>
          <p:cNvPr id="4" name="Image 2" descr="https://kimi-img.moonshot.cn/pub/slides/slides_tmpl/image/25-09-05-12:11:00-d2t65l61bb2p4onbqqp0.png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-22860" y="0"/>
            <a:ext cx="12237720" cy="685736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048000" y="2294890"/>
            <a:ext cx="6096000" cy="13342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8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2744788" y="3899535"/>
            <a:ext cx="6702425" cy="20454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1C141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测试评估与效果验证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Shape 0"/>
          <p:cNvSpPr/>
          <p:nvPr>
            <p:custDataLst>
              <p:tags r:id="rId3"/>
            </p:custDataLst>
          </p:nvPr>
        </p:nvSpPr>
        <p:spPr>
          <a:xfrm>
            <a:off x="1049655" y="1897380"/>
            <a:ext cx="2672080" cy="389445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3175">
            <a:solidFill>
              <a:srgbClr val="FFFDE6"/>
            </a:solidFill>
            <a:prstDash val="solid"/>
          </a:ln>
        </p:spPr>
      </p:sp>
      <p:sp>
        <p:nvSpPr>
          <p:cNvPr id="5" name="Shape 1"/>
          <p:cNvSpPr/>
          <p:nvPr>
            <p:custDataLst>
              <p:tags r:id="rId4"/>
            </p:custDataLst>
          </p:nvPr>
        </p:nvSpPr>
        <p:spPr>
          <a:xfrm>
            <a:off x="4740910" y="1897380"/>
            <a:ext cx="2672080" cy="389445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3175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5"/>
            </p:custDataLst>
          </p:nvPr>
        </p:nvSpPr>
        <p:spPr>
          <a:xfrm>
            <a:off x="8289925" y="1897380"/>
            <a:ext cx="2672080" cy="3894455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3175">
            <a:solidFill>
              <a:srgbClr val="FFFDE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5118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一致性测试与分布式状态验证</a:t>
            </a:r>
            <a:endParaRPr lang="en-US" sz="1600" dirty="0"/>
          </a:p>
        </p:txBody>
      </p:sp>
      <p:sp>
        <p:nvSpPr>
          <p:cNvPr id="8" name="Text 4"/>
          <p:cNvSpPr/>
          <p:nvPr>
            <p:custDataLst>
              <p:tags r:id="rId6"/>
            </p:custDataLst>
          </p:nvPr>
        </p:nvSpPr>
        <p:spPr>
          <a:xfrm>
            <a:off x="1381125" y="2271395"/>
            <a:ext cx="213897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一般绘图场景</a:t>
            </a:r>
            <a:endParaRPr lang="zh-CN" altLang="en-US" sz="1800" b="1" dirty="0">
              <a:solidFill>
                <a:srgbClr val="FFFDE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1381125" y="2927985"/>
            <a:ext cx="2176145" cy="21558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200 个并发用户，每个用户持续通过 </a:t>
            </a:r>
            <a:r>
              <a:rPr lang="en-US" altLang="zh-CN" sz="1600" dirty="0">
                <a:solidFill>
                  <a:schemeClr val="bg1"/>
                </a:solidFill>
              </a:rPr>
              <a:t>WebSocket </a:t>
            </a:r>
            <a:r>
              <a:rPr lang="zh-CN" altLang="en-US" sz="1600" dirty="0">
                <a:solidFill>
                  <a:schemeClr val="bg1"/>
                </a:solidFill>
              </a:rPr>
              <a:t>发送绘图消息</a:t>
            </a:r>
            <a:endParaRPr lang="zh-CN" altLang="en-US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测试 </a:t>
            </a:r>
            <a:r>
              <a:rPr lang="en-US" altLang="zh-CN" sz="1600" dirty="0">
                <a:solidFill>
                  <a:schemeClr val="bg1"/>
                </a:solidFill>
              </a:rPr>
              <a:t>WebSocket </a:t>
            </a:r>
            <a:r>
              <a:rPr lang="zh-CN" altLang="en-US" sz="1600" dirty="0">
                <a:solidFill>
                  <a:schemeClr val="bg1"/>
                </a:solidFill>
              </a:rPr>
              <a:t>连接的消息收发延迟</a:t>
            </a:r>
            <a:endParaRPr lang="zh-CN" altLang="en-US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4998085" y="2271395"/>
            <a:ext cx="213897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历史加载场景</a:t>
            </a:r>
            <a:endParaRPr lang="zh-CN" altLang="en-US" sz="1800" b="1" dirty="0">
              <a:solidFill>
                <a:srgbClr val="FFFDE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4998085" y="2927985"/>
            <a:ext cx="2176145" cy="1861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50 个并发用户，模拟冷启动</a:t>
            </a:r>
            <a:endParaRPr lang="zh-CN" altLang="en-US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每个用户建立 </a:t>
            </a:r>
            <a:r>
              <a:rPr lang="en-US" altLang="zh-CN" sz="1600" dirty="0">
                <a:solidFill>
                  <a:schemeClr val="bg1"/>
                </a:solidFill>
              </a:rPr>
              <a:t>WebSocket </a:t>
            </a:r>
            <a:r>
              <a:rPr lang="zh-CN" altLang="en-US" sz="1600" dirty="0">
                <a:solidFill>
                  <a:schemeClr val="bg1"/>
                </a:solidFill>
              </a:rPr>
              <a:t>连接后，等待服务器推送历史同步数据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8615045" y="2271395"/>
            <a:ext cx="213897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18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多画布场景</a:t>
            </a:r>
            <a:endParaRPr lang="zh-CN" altLang="en-US" sz="1800" b="1" dirty="0">
              <a:solidFill>
                <a:srgbClr val="FFFDE6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8615045" y="2927985"/>
            <a:ext cx="2176145" cy="12712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100 个并发用户，分布在 5 个不同的画布上</a:t>
            </a:r>
            <a:endParaRPr lang="zh-CN" altLang="en-US" sz="1600" dirty="0">
              <a:solidFill>
                <a:schemeClr val="bg1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总消息速率 1000 条/秒</a:t>
            </a:r>
            <a:endParaRPr lang="zh-CN" alt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4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5-12:11:00-d2t65l61bb2p4onbqqo0.png"/>
          <p:cNvPicPr>
            <a:picLocks noChangeAspect="1"/>
          </p:cNvPicPr>
          <p:nvPr/>
        </p:nvPicPr>
        <p:blipFill>
          <a:blip r:embed="rId1">
            <a:alphaModFix amt="17000"/>
          </a:blip>
          <a:srcRect t="120" b="47004"/>
          <a:stretch>
            <a:fillRect/>
          </a:stretch>
        </p:blipFill>
        <p:spPr>
          <a:xfrm>
            <a:off x="0" y="813435"/>
            <a:ext cx="12192000" cy="6044565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22860"/>
            <a:ext cx="12192635" cy="68808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910" y="603885"/>
            <a:ext cx="9799955" cy="59070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DE6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性能与可靠性驱动的体验升级</a:t>
            </a:r>
            <a:endParaRPr lang="en-US" sz="1600" dirty="0"/>
          </a:p>
        </p:txBody>
      </p:sp>
      <p:sp>
        <p:nvSpPr>
          <p:cNvPr id="5" name="Shape 1"/>
          <p:cNvSpPr/>
          <p:nvPr>
            <p:custDataLst>
              <p:tags r:id="rId3"/>
            </p:custDataLst>
          </p:nvPr>
        </p:nvSpPr>
        <p:spPr>
          <a:xfrm>
            <a:off x="61150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6" name="Shape 2"/>
          <p:cNvSpPr/>
          <p:nvPr>
            <p:custDataLst>
              <p:tags r:id="rId4"/>
            </p:custDataLst>
          </p:nvPr>
        </p:nvSpPr>
        <p:spPr>
          <a:xfrm>
            <a:off x="341566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7" name="Shape 3"/>
          <p:cNvSpPr/>
          <p:nvPr>
            <p:custDataLst>
              <p:tags r:id="rId5"/>
            </p:custDataLst>
          </p:nvPr>
        </p:nvSpPr>
        <p:spPr>
          <a:xfrm>
            <a:off x="621982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8" name="Shape 4"/>
          <p:cNvSpPr/>
          <p:nvPr>
            <p:custDataLst>
              <p:tags r:id="rId6"/>
            </p:custDataLst>
          </p:nvPr>
        </p:nvSpPr>
        <p:spPr>
          <a:xfrm>
            <a:off x="9023985" y="1877695"/>
            <a:ext cx="2513965" cy="4159885"/>
          </a:xfrm>
          <a:prstGeom prst="roundRect">
            <a:avLst>
              <a:gd name="adj" fmla="val 9396"/>
            </a:avLst>
          </a:prstGeom>
          <a:solidFill>
            <a:srgbClr val="000000">
              <a:alpha val="0"/>
            </a:srgbClr>
          </a:solidFill>
          <a:ln w="19050">
            <a:solidFill>
              <a:srgbClr val="FFFDE6"/>
            </a:solidFill>
            <a:prstDash val="solid"/>
          </a:ln>
        </p:spPr>
      </p:sp>
      <p:sp>
        <p:nvSpPr>
          <p:cNvPr id="9" name="Text 5"/>
          <p:cNvSpPr/>
          <p:nvPr>
            <p:custDataLst>
              <p:tags r:id="rId7"/>
            </p:custDataLst>
          </p:nvPr>
        </p:nvSpPr>
        <p:spPr>
          <a:xfrm>
            <a:off x="79883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极致低延迟体验</a:t>
            </a:r>
            <a:endParaRPr lang="en-US" sz="1600" dirty="0"/>
          </a:p>
        </p:txBody>
      </p:sp>
      <p:sp>
        <p:nvSpPr>
          <p:cNvPr id="10" name="Text 6"/>
          <p:cNvSpPr/>
          <p:nvPr>
            <p:custDataLst>
              <p:tags r:id="rId8"/>
            </p:custDataLst>
          </p:nvPr>
        </p:nvSpPr>
        <p:spPr>
          <a:xfrm>
            <a:off x="780415" y="2714625"/>
            <a:ext cx="2176145" cy="13288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前端轨迹采样与DP压缩将绘制延迟降至十毫秒级，用户几乎无感知等待。</a:t>
            </a:r>
            <a:endParaRPr lang="en-US" sz="1600" dirty="0"/>
          </a:p>
        </p:txBody>
      </p:sp>
      <p:sp>
        <p:nvSpPr>
          <p:cNvPr id="11" name="Text 7"/>
          <p:cNvSpPr/>
          <p:nvPr>
            <p:custDataLst>
              <p:tags r:id="rId9"/>
            </p:custDataLst>
          </p:nvPr>
        </p:nvSpPr>
        <p:spPr>
          <a:xfrm>
            <a:off x="360299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乐观更新策略</a:t>
            </a:r>
            <a:endParaRPr lang="en-US" sz="1600" dirty="0"/>
          </a:p>
        </p:txBody>
      </p:sp>
      <p:sp>
        <p:nvSpPr>
          <p:cNvPr id="12" name="Text 8"/>
          <p:cNvSpPr/>
          <p:nvPr>
            <p:custDataLst>
              <p:tags r:id="rId10"/>
            </p:custDataLst>
          </p:nvPr>
        </p:nvSpPr>
        <p:spPr>
          <a:xfrm>
            <a:off x="358457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本地即时渲染消除操作等待感，异步确认保障最终一致性。</a:t>
            </a:r>
            <a:endParaRPr lang="en-US" sz="1600" dirty="0"/>
          </a:p>
        </p:txBody>
      </p:sp>
      <p:sp>
        <p:nvSpPr>
          <p:cNvPr id="13" name="Text 9"/>
          <p:cNvSpPr/>
          <p:nvPr>
            <p:custDataLst>
              <p:tags r:id="rId11"/>
            </p:custDataLst>
          </p:nvPr>
        </p:nvSpPr>
        <p:spPr>
          <a:xfrm>
            <a:off x="640715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断网连续协作</a:t>
            </a:r>
            <a:endParaRPr lang="en-US" sz="1600" dirty="0"/>
          </a:p>
        </p:txBody>
      </p:sp>
      <p:sp>
        <p:nvSpPr>
          <p:cNvPr id="14" name="Text 10"/>
          <p:cNvSpPr/>
          <p:nvPr>
            <p:custDataLst>
              <p:tags r:id="rId12"/>
            </p:custDataLst>
          </p:nvPr>
        </p:nvSpPr>
        <p:spPr>
          <a:xfrm>
            <a:off x="638873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离线缓存与断线重连机制确保网络波动下协作不中断，数据不丢失。</a:t>
            </a:r>
            <a:endParaRPr lang="en-US" sz="1600" dirty="0"/>
          </a:p>
        </p:txBody>
      </p:sp>
      <p:sp>
        <p:nvSpPr>
          <p:cNvPr id="15" name="Text 11"/>
          <p:cNvSpPr/>
          <p:nvPr>
            <p:custDataLst>
              <p:tags r:id="rId13"/>
            </p:custDataLst>
          </p:nvPr>
        </p:nvSpPr>
        <p:spPr>
          <a:xfrm>
            <a:off x="9211310" y="2058035"/>
            <a:ext cx="2138680" cy="364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快速状态恢复</a:t>
            </a:r>
            <a:endParaRPr lang="en-US" sz="1600" dirty="0"/>
          </a:p>
        </p:txBody>
      </p:sp>
      <p:sp>
        <p:nvSpPr>
          <p:cNvPr id="16" name="Text 12"/>
          <p:cNvSpPr/>
          <p:nvPr>
            <p:custDataLst>
              <p:tags r:id="rId14"/>
            </p:custDataLst>
          </p:nvPr>
        </p:nvSpPr>
        <p:spPr>
          <a:xfrm>
            <a:off x="9192895" y="2714625"/>
            <a:ext cx="2176145" cy="10195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快照与增量回放实现历史状态秒级恢复，长会话场景流畅无卡顿。</a:t>
            </a:r>
            <a:endParaRPr lang="en-US" sz="1600" dirty="0"/>
          </a:p>
        </p:txBody>
      </p:sp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2"/>
          <a:srcRect l="23" r="23"/>
          <a:stretch>
            <a:fillRect/>
          </a:stretch>
        </p:blipFill>
        <p:spPr>
          <a:xfrm>
            <a:off x="-635" y="-61595"/>
            <a:ext cx="12192635" cy="688086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15"/>
          <a:stretch>
            <a:fillRect/>
          </a:stretch>
        </p:blipFill>
        <p:spPr>
          <a:xfrm>
            <a:off x="549910" y="309880"/>
            <a:ext cx="11214735" cy="62382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-635" y="-61595"/>
            <a:ext cx="12192635" cy="6880860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656590" y="414020"/>
            <a:ext cx="10851515" cy="59969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Image 1" descr="https://kimi-img.moonshot.cn/pub/slides/slides_tmpl/image/25-09-05-12:10:59-d2t65ku1bb2p4onbqqn0.png"/>
          <p:cNvPicPr>
            <a:picLocks noChangeAspect="1"/>
          </p:cNvPicPr>
          <p:nvPr/>
        </p:nvPicPr>
        <p:blipFill>
          <a:blip r:embed="rId1"/>
          <a:srcRect l="23" r="23"/>
          <a:stretch>
            <a:fillRect/>
          </a:stretch>
        </p:blipFill>
        <p:spPr>
          <a:xfrm>
            <a:off x="-635" y="-61595"/>
            <a:ext cx="12192635" cy="6880860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433070" y="358775"/>
            <a:ext cx="11163935" cy="61017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2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3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4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5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6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7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8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9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10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11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12.xml><?xml version="1.0" encoding="utf-8"?>
<p:tagLst xmlns:p="http://schemas.openxmlformats.org/presentationml/2006/main">
  <p:tag name="KSO_WM_DIAGRAM_VIRTUALLY_FRAME" val="{&quot;height&quot;:247.9,&quot;left&quot;:414.85,&quot;top&quot;:151.15,&quot;width&quot;:524.8}"/>
</p:tagLst>
</file>

<file path=ppt/tags/tag1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4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5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6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7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8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9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0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1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2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4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5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6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7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8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29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0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1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2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4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5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6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7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8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39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0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1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2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4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5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6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7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8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49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0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1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2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4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5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6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7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8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59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60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61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2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3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4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5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6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7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8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69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70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71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72.xml><?xml version="1.0" encoding="utf-8"?>
<p:tagLst xmlns:p="http://schemas.openxmlformats.org/presentationml/2006/main">
  <p:tag name="KSO_WM_DIAGRAM_VIRTUALLY_FRAME" val="{&quot;height&quot;:330.25,&quot;left&quot;:85.55,&quot;top&quot;:134.65,&quot;width&quot;:783.3}"/>
</p:tagLst>
</file>

<file path=ppt/tags/tag73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74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75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76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77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78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79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80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81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82.xml><?xml version="1.0" encoding="utf-8"?>
<p:tagLst xmlns:p="http://schemas.openxmlformats.org/presentationml/2006/main">
  <p:tag name="KSO_WM_DIAGRAM_VIRTUALLY_FRAME" val="{&quot;height&quot;:316,&quot;left&quot;:94.9,&quot;top&quot;:137.2,&quot;width&quot;:770.2}"/>
</p:tagLst>
</file>

<file path=ppt/tags/tag83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84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85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86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87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88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89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90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91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92.xml><?xml version="1.0" encoding="utf-8"?>
<p:tagLst xmlns:p="http://schemas.openxmlformats.org/presentationml/2006/main">
  <p:tag name="KSO_WM_DIAGRAM_VIRTUALLY_FRAME" val="{&quot;height&quot;:297.53551181102375,&quot;left&quot;:65.15,&quot;top&quot;:152.23228346456693,&quot;width&quot;:819.0043307086614}"/>
</p:tagLst>
</file>

<file path=ppt/tags/tag93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94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95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96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97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98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99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0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1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2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3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4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5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6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7.xml><?xml version="1.0" encoding="utf-8"?>
<p:tagLst xmlns:p="http://schemas.openxmlformats.org/presentationml/2006/main">
  <p:tag name="KSO_WM_DIAGRAM_VIRTUALLY_FRAME" val="{&quot;height&quot;:330.35,&quot;left&quot;:89.7,&quot;top&quot;:129.25,&quot;width&quot;:787.65}"/>
</p:tagLst>
</file>

<file path=ppt/tags/tag108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09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0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1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2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3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4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5.xml><?xml version="1.0" encoding="utf-8"?>
<p:tagLst xmlns:p="http://schemas.openxmlformats.org/presentationml/2006/main">
  <p:tag name="KSO_WM_DIAGRAM_VIRTUALLY_FRAME" val="{&quot;height&quot;:326.9,&quot;left&quot;:117.15,&quot;top&quot;:126.25,&quot;width&quot;:707.85}"/>
</p:tagLst>
</file>

<file path=ppt/tags/tag116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17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18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19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20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21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22.xml><?xml version="1.0" encoding="utf-8"?>
<p:tagLst xmlns:p="http://schemas.openxmlformats.org/presentationml/2006/main">
  <p:tag name="KSO_WM_DIAGRAM_VIRTUALLY_FRAME" val="{&quot;height&quot;:356.4,&quot;left&quot;:81.2,&quot;top&quot;:121.8,&quot;width&quot;:794.5}"/>
</p:tagLst>
</file>

<file path=ppt/tags/tag123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24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25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26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27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28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29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30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31.xml><?xml version="1.0" encoding="utf-8"?>
<p:tagLst xmlns:p="http://schemas.openxmlformats.org/presentationml/2006/main">
  <p:tag name="KSO_WM_DIAGRAM_VIRTUALLY_FRAME" val="{&quot;height&quot;:404.85,&quot;left&quot;:82.65,&quot;top&quot;:149.4,&quot;width&quot;:785.85}"/>
</p:tagLst>
</file>

<file path=ppt/tags/tag132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4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5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6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7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8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39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40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41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42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ags/tag143.xml><?xml version="1.0" encoding="utf-8"?>
<p:tagLst xmlns:p="http://schemas.openxmlformats.org/presentationml/2006/main">
  <p:tag name="KSO_WM_DIAGRAM_VIRTUALLY_FRAME" val="{&quot;height&quot;:519.85,&quot;left&quot;:48.15,&quot;top&quot;:-44.45,&quot;width&quot;:860.35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FFDE6"/>
      </a:accent1>
      <a:accent2>
        <a:srgbClr val="FE933E"/>
      </a:accent2>
      <a:accent3>
        <a:srgbClr val="1C1410"/>
      </a:accent3>
      <a:accent4>
        <a:srgbClr val="0F9ED5"/>
      </a:accent4>
      <a:accent5>
        <a:srgbClr val="1560F5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FFDE6"/>
      </a:accent1>
      <a:accent2>
        <a:srgbClr val="FE933E"/>
      </a:accent2>
      <a:accent3>
        <a:srgbClr val="1C1410"/>
      </a:accent3>
      <a:accent4>
        <a:srgbClr val="0F9ED5"/>
      </a:accent4>
      <a:accent5>
        <a:srgbClr val="1560F5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FFDE6"/>
      </a:accent1>
      <a:accent2>
        <a:srgbClr val="FE933E"/>
      </a:accent2>
      <a:accent3>
        <a:srgbClr val="1C1410"/>
      </a:accent3>
      <a:accent4>
        <a:srgbClr val="0F9ED5"/>
      </a:accent4>
      <a:accent5>
        <a:srgbClr val="1560F5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2660</Words>
  <Application>WPS 演示</Application>
  <PresentationFormat>On-screen Show (16:9)</PresentationFormat>
  <Paragraphs>269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SyncCanvas-Distributed：高可用分布式协同画板</dc:title>
  <dc:creator>Kimi</dc:creator>
  <dc:subject>SyncCanvas-Distributed：高可用分布式协同画板</dc:subject>
  <cp:lastModifiedBy>2023302111115</cp:lastModifiedBy>
  <cp:revision>12</cp:revision>
  <dcterms:created xsi:type="dcterms:W3CDTF">2026-06-02T02:57:00Z</dcterms:created>
  <dcterms:modified xsi:type="dcterms:W3CDTF">2026-06-02T09:00:53Z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yncCanvas-Distributed：高可用分布式协同画板","ContentProducer":"001191110108MACG2KBH8F10000","ProduceID":"19e86401-c322-846f-8000-0000a858e06c","ReservedCode1":"","ContentPropagator":"001191110108MACG2KBH8F20000","PropagateID":"19e86401-c322-846f-8000-0000a858e06c","ReservedCode2":""}</vt:lpwstr>
  </property>
  <property fmtid="{D5CDD505-2E9C-101B-9397-08002B2CF9AE}" pid="3" name="KSOProductBuildVer">
    <vt:lpwstr>2052-12.1.0.26375</vt:lpwstr>
  </property>
  <property fmtid="{D5CDD505-2E9C-101B-9397-08002B2CF9AE}" pid="4" name="ICV">
    <vt:lpwstr>AD0E753936A24066B490922DAE6D6A2C_12</vt:lpwstr>
  </property>
</Properties>
</file>